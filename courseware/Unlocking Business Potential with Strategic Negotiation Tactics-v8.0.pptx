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3020567-Unlocking-Business-Potential-with-Strategic-Negotiation-Tactics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6294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2920"/>
            <a:ext cx="804672" cy="80467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646920" y="502920"/>
            <a:ext cx="1920240" cy="8046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603504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NEGOTIATION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950976"/>
            <a:ext cx="1920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700" b="1">
                <a:solidFill>
                  <a:srgbClr val="FFFFFF"/>
                </a:solidFill>
                <a:latin typeface="Arial"/>
              </a:rPr>
              <a:t>PREPARE · TRADE · CLOSE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00200"/>
            <a:ext cx="55778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11680"/>
            <a:ext cx="56235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61B26"/>
                </a:solidFill>
                <a:latin typeface="Arial"/>
              </a:rPr>
              <a:t>Unlocking Business Potential with Strategic Negotiation Tactics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4069080"/>
            <a:ext cx="19202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315968"/>
            <a:ext cx="5715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TGS-2023020567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864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v8.0  ·  16 August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98932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Ltd. All rights reserved.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Welcome, Outcomes and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AM, PM and Assessment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every SSG digital-attendance event shown by the trainer.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Scan the QR code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mobile camera and submit the generated attendance form.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Verify submission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Tell the trainer immediately if the confirmation does not appear.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Funding condition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 least 75% attendance and a Competent result are required.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YOUR TRAINER · COURSE FACILITATOR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the Workshop Will 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Course Facilitator · Tertiary Infotech Academy Pte Ltd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WORKSHOP 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Guide discussion, challenge assumptions and connect evidence to workplace decisions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LEARNING FOCUS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Preparation, influence, conflict, closure and post-negotiation evaluation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FACILITATION APPROACH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Case-based practice, reflection, feedback and evidence-led debrief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ASSESSMENT BOUNDARY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Clarifies instructions but does not coach assessed responses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 · Tertiary Infotech Academy Pte Ltd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 and course facilitator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SPECIALISMS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Business negotiation, strategy and applied decision-making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professional development and workplace application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Your organisation, function and negotiation responsibilities.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Negotiation experience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supplier, customer or workplace agreement you handled.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Learning goal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negotiation situation or behaviour you want to strengthen.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Case lens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stakeholder whose priorities you will represent.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Participate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Challenge assumptions and contribute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Respect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Disagree with ideas, not people.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Confidentiality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public or course data only; do not disclose live commercial information.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Devices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Silent mode; step out quietly if needed.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Return from breaks promptly.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Attendance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Maintain the required SSG attendance record.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LESSON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 — 2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— Prepare the position and team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1: outcomes, BATNA, context, roles and research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Activities 1–5: supplier, SaaS, lease, distribution and job offer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Build evidence-backed packages and authority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— Apply tactics, close and evaluate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2: opening, listening, tactics, impasse and closure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Activities 6–10: agency, logistics, construction, investment and partnership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WA 4–5pm · Case Study 5–6pm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 WILL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4370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4370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Identify negotiation outcomes, the context of negotiation and relevant background information required to prepare for negotiation.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4370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4370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Apply negotiation techniques during negotiation and record negotiations for post-negotiation evaluation.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ICT-BIN-3105-1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Business Negotiation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WSQ competency alignment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Knowledge K1–K6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objectives · context · culture · interpersonal · communication · precedent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Abilities A1–A5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outcomes · roles · background · tactics · records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BEFORE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Individual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discussion, photography or recording.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slides, Learner Guide and approved course materials only.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Submission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Answer in your own words and upload the completed document to the LMS.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Conduct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Phones and other materials under the table; follow assessor instructions.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Outcome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Competent or Not Yet Competent; reassessment and appeal are available.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Sign-off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Complete digital attendance and sign the Assessment Summary Record.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WA-SAQ · 1 hour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6 open-ended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Covers K1–K6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Case Study · 1 hour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2 integrated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Covers A1–A5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Competency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Satisfactory evidence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At least 75% attendance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Appeal process available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/ SSG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HANDS-ON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 the Course Activities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52760" cy="658368"/>
          </a:xfrm>
          <a:prstGeom prst="rect">
            <a:avLst/>
          </a:prstGeom>
          <a:solidFill>
            <a:srgbClr val="EE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38528"/>
            <a:ext cx="10195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  <a:hlinkClick r:id="rId2"/>
              </a:rPr>
              <a:t>https://github.com/tertiarycourses/TGS-2023020567-Unlocking-Business-Potential-with-Strategic-Negotiation-Tactics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880360"/>
            <a:ext cx="333756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Clone the repository, then open the activities folder.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880360"/>
            <a:ext cx="333756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Download ZIP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Use GitHub Code → Download ZIP when Git is unavailable.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2880360"/>
            <a:ext cx="3337560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One folder each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Every activity contains scenario, data, questions, procedure and acceptance evidence.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COURSEWARE AND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52760" cy="658368"/>
          </a:xfrm>
          <a:prstGeom prst="rect">
            <a:avLst/>
          </a:prstGeom>
          <a:solidFill>
            <a:srgbClr val="EE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38528"/>
            <a:ext cx="10195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880360"/>
            <a:ext cx="333756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 · Sign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Open the LMS with your registered email and password or OTP.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880360"/>
            <a:ext cx="333756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2 · Open course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Select this TGS course from your enrolled courses.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2880360"/>
            <a:ext cx="3337560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3 · Download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Download slides and the Learner Guide; assessments are completed on the LMS.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CORE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Prepare · Connect · Trade · Close · Learn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END-TO-END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strategic negotiation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Define outcome and mandate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Understand interests and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Create and claim value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Close an executable agreement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Record and improve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NEGOTIATION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 before confidence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Verified fact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Contract, benchmark, performance record or stated requirement with source and date.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Working hypothesis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plausible explanation or interest that must be tested through questions.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Training assumption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simulated input used only for learning and clearly labelled.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Decision record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Offer, condition, rationale, owner and authority captured at the 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COURSE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Firm on interests. Flexible on options.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Good negotiation protects legitimate limits while searching creatively for terms both sides can implement.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LEARNING UNIT 01 · K1 · K2 · K3 · A1 · A2 · A3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Preparation for Negotiation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Outcomes · context · roles · research · BATNA · culture · planning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ICT-BIN-3105-1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Preparation for Negotiation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Outcome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 the target, reservation point, relationship goal and implementation needs.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Map parties, issues, authority, constraints, precedents and the wider commercial setting.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Alternatives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credible BATNA creates walk-away discipline and strengthens judgement.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Preparation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Research interests, options, criteria, culture, risks and team roles before the meeting.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Preparation converts pressure into choice.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 negotiator with clear priorities and alternatives can stay curious without becoming careless.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Negotiation is everywhere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Commercial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Supplier terms, customer contracts, leases, licensing and partnerships.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Workplace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Resources, deadlines, roles, salary, scope and performance expectations.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Alliances, acquisitions, restructures and multi-party commitments.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Everyday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Any dialogue where parties seek agreement despite differing preferences.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four-stage negotiation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Prepare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Discuss and diagnose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Bargain and create value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Close, record and 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Positions and interests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position states what a party says it wants.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Arguing positions can lock both sides into face-saving.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Treat a position as an opening signal, not the full diagnosis.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An interest explains why an outcome matters.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Questions reveal priorities, fears, constraints and tradeable differences.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Interests create room for options that positions conceal.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Three bargaining situations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Distributive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Divide a fixed amount; protect the reservation point and claim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Integrative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Trade differences in priorities, timing, risk or capability to create value.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Mixed-motive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Most business deals require both value creation and value claiming.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Define the outcome hierarchy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Must-have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condition required for authority, viability, safety or compliance.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Target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challenging but supportable result used to guide proposals.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Tradeable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term you can exchange because it matters more to the other side.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Relationship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Trust, reputation and future cooperation that should survive the deal.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BATNA, WATNA, reservation point and ZOPA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BATNA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Best course of action if this negotiation produces no agreement.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WATNA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Credible downside if talks fail; useful for risk awareness, not as a target.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Reservation point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Worst acceptable negotiated outcome before the BATNA is better.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ZOPA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Range where both parties prefer an agreement to their alternatives.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Strengthen your BATNA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List alternatives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Test feasibility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Estimate value and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Improve the strongest option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Set reservation 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Keep it current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Your BATNA is not a threat.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It is the decision standard that protects you from accepting a deal worse than a realistic alternative.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Map the negotiation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Parties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Decision-makers, users, advisers, influencers, blockers and absent stakeholders.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Issues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Price, scope, quality, timing, risk, governance, service and future options.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Constraints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Budget, policy, regulation, deadlines, capacity and approval limits.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History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Prior deals, promises, disputes, precedents and implementation performance.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Stakeholder and authority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Sponsor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Lead negotiator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Subject specialist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Observer / recorder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Approver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Implementation owner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Roles and responsibilities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lead manages agenda, process, questions and package movement.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Subject specialists test claims and explain operational consequences.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recorder captures proposals, rationale, conditions and open items.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sponsor sets objectives, mandate and escalation boundaries.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approver confirms commitments inside delegated authority.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implementation owner tests whether promises can be delivered.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negotiation mandate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Authority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may be agreed at the table and what needs approval.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Limits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Reservation points, legal red lines and prohibited commitments.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Escalation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Who decides when assumptions, risk or value changes materially.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Communication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Who may speak externally and how internal alignment is maintained.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Background research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Clarify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Gather internal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Research counterpart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Benchmark market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Test assumptions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Prepare questions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Research the other party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Business model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Revenue, costs, customers, dependencies and current priorities.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Likely interests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success, risk and internal credibility may mean to them.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Constraints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Budget cycle, approvals, capacity, regulation and alternatives.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Signals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Public commitments, prior behaviour and terms they repeatedly protect.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Objective criteria and precedent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market rates, independent benchmarks, policy, expert evidence and comparable deals.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Explain why the criterion is relevant and how it should be applied.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Choose criteria before knowing which side they favour.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precedent can guide consistency but may reflect a different context.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Compare scope, timing, risk, volume and relationship before relying on it.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Document why a precedent applies—or why a justified exception is needed.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an issue-priority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High / high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Core issues for both sides; seek evidence and creative packages.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High / low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Protect what matters to you and exchange value rather than concede.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Low / high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Low-cost terms you may trade for higher-priority gains.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Low / low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Resolve efficiently so attention remains on consequential issues.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Plan concessions before pressure arrives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Sequence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Move from lower-cost to higher-cost concessions deliberately.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Condition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Use if–then trades; never give without receiving or learning.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Signal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Smaller, slower movement communicates proximity to the limit.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med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value through differences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Priority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Trade an issue important to them for one important to you.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Exchange payment timing, delivery sequence or contract duration.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Allocate warranties, guarantees, contingencies or performance incentives.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Capability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Bundle training, data, service, access or implementation support.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Develop package proposals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List issues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Assign relative value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 equivalent packages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Stress-test risks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Prepare rationale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Choose opening package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med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Culture affects process—not stereotypes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Communication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Direct and indirect expression may signal disagreement differently.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Pace, silence, deadlines and relationship-building vary by context.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Authority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Decision-making may be individual, hierarchical or consensus-based.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Face and trust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Public challenge, status and relationship history can shape candour.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med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Use cultural hypotheses, then verify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Ask respectful process questions and adapt to the individual; nationality is never a complete behavioural forecast.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med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Venue, time and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Venue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Choose privacy, accessibility, neutrality and access to evidence—not superstition.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Allow preparation, approvals and breaks; avoid artificial urgency.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Agenda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Sequence information, issues, decisions and ownership transparently.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Plan document sharing, sidebars and signals for in-person or virtual talks.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01 · K1 · K2 · K3 · A1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Information sharing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Share facts needed to diagnose interests, generate options and implement a deal.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Correct material misstatements and meet legal or ethical disclosure duties.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staged reciprocity: disclose purposefully and test trust over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Protect privileged data, trade secrets, reservation points and third-party information.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bluff about authority, alternatives or facts that can undermine trust.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Agree confidentiality, data handling and record ownership before exchange.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med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WORKPLACE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Applied Activities — Preparation for Negotiation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Activity 1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Renew a Critical Ingredient Supply Agreement · K1 · K2 · A1 · A3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Activity 2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Create a SaaS Renewal Team Mandate · K2 · A2 · A3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Activity 3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Prepare a Commercial Lease Renewal · K1 · K2 · A1 · A3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Activity 4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Plan a Singapore–Japan Distribution Partnership · K2 · K3 · A2 · A3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Activity 5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Design a Total-Reward Job Offer Negotiation · K1 · K2 · K3 · A1 · A3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Evidence boundary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Realistic commercial cases; fictional training inputs are clearly labelled.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UNIT 01 · K1 · K2 · A1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Renew a Critical Ingredient Supply Agreement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Act as the procurement team of a Singapore café group renewing a high-volume oat-milk supply agreement after demand growth and freight volatility.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negotiation outcome charter, BATNA comparison, issue-priority matrix and evidence request list.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Activity brief · negotiation worksheet · supplier benchmark data · evidence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med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1 · REAL-WORLD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Use Case and Training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Real-world use case: supplier renewals commonly combine price, volume, quality, continuity, forecasting and relationship interests. The scenario is a realistic composite rather than a claim about a named company.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https://asana.com/resources/negotiation-skills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Current price is SGD 3.20 per litre; the supplier opens at SGD 3.62.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Forecast demand is 12,000 litres monthly with a plus/minus 15% range.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alternative supplier can provide 7,000 litres at SGD 3.45 after a four-week onboarding period.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med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 · EDITABLE DECISION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Outcome Control Panel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Target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Preferred supportable result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Reservation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Least acceptable complete package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BATNA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Best credible no-deal option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ZOPA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Possible overlap to test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Tradeables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Low-cost / high-value exchanges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Facts needed before commitment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med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1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are the organisation's must-have, target, tradeable and relationship outcomes?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is the best credible BATNA, and what evidence is needed to validate it?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issues could create value beyond unit price?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opening package and reservation point should the sponsor approve?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med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Renew a Critical Ingredient Supply Agreement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brief states an evidence-backed BATNA and reservation point, covers at least five issues, and separates targets from authority limits.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med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UNIT 01 · K2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 SaaS Renewal Team Mandate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Prepare an internal team to renegotiate a customer-relationship-management platform used by Sales, Service and Finance.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stakeholder map, RACI-style team charter, authority matrix and meeting protocol.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Stakeholder cards · authority matrix · issue log · role-play brief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med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2 · REAL-WORLD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Use Case and Training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Real-world use case: SaaS renewals require commercial, technical, legal, security and end-user decisions. The company and figures are fictional training inputs.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https://builtin.com/articles/negotiation-skills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current annual contract value is SGD 240,000 for 300 users.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Forty-five licences are inactive; migration to an alternative takes four months.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CFO may approve up to SGD 255,000 if three defined risk controls are included.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med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2 · EDITABLE DECISION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Team Mandate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Sponsor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Sets outcomes and mandate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Lead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Manages process and packages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Specialists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Test operational and commercial claims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Recorder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Captures offers and conditions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Approver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Confirms delegated commitment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Escalation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Handles material change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med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2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Who owns the commercial outcome and who can bind the organisation?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specialists must attend, remain on call or review offline?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commitments can the lead make without escalation?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should the team handle internal disagreement during the vendor meeting?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med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2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Create a SaaS Renewal Team Mandate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Every critical issue has one accountable owner, one decision authority and one escalation route; no participant has conflicting authority.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med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UNIT 01 · K1 · K2 · A1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Prepare a Commercial Lease Renewal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Represent a retail operator renewing a suburban mall lease where rent, fit-out, operating hours and exit flexibility all affect value.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market benchmark table, total-occupancy-cost model, issue matrix and three equivalent packages.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Comparable-deal data · cost model · package worksheet · assumption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med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3 · REAL-WORLD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Use Case and Training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Real-world use case: commercial leases are negotiated across base rent, service charges, incentives, duration, use, fit-out and break rights. This is a realistic composite.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https://www.esade.edu/beyond/en/negotiation-techniques/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Current base rent is SGD 18,000 monthly; the landlord opens at SGD 20,500.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Three comparable units range from SGD 18,700 to SGD 19,600 after incentives.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relocation would cost SGD 180,000 and close the store for six weeks.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med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3 · EDITABLE DECISION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Lease Total-Value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Base rent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Monthly fixed commitment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Service charge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Operating-cost exposure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Fit-out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Capital and downtime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Rent-free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Cash-flow timing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Break option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Flexibility value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Footfall and exit assumptions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med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3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comparables are genuinely relevant, and what adjustments are required?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is the total value of rent, incentive, duration and break rights?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three packages are equivalent to Orchid but differently attractive to the landlord?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facts and assumptions should be disclosed, protected or verified?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med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3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Prepare a Commercial Lease Renewal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proposal compares at least three complete packages on total value and cites adjusted, relevant criteria rather than a single rent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med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UNIT 01 · K2 · K3 · A2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Plan a Singapore–Japan Distribution Partnership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Prepare a Singapore health-food producer to meet a Japanese distributor about territory, forecasts, brand control and launch support.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cultural hypothesis sheet, process questions, bilingual agenda and relationship-risk plan.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Culture lens · stakeholder map · agenda template · communication protocol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med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4 · REAL-WORLD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Use Case and Training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Real-world use case: international distribution negotiations may differ in communication, consensus, pacing, hierarchy and relationship-building. Individual behaviour must be verified rather than inferred from nationality.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https://www.pon.harvard.edu/daily/negotiation-skills-daily/types-of-negotiation-skills/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Merlion can allocate one senior sponsor and one bilingual adviser.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Product registration will take an estimated four to six months.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distributor seeks exclusivity but has not committed to minimum annual volume.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med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4 · EDITABLE DECISION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Cross-Cultural Hypothesis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Communication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Directness, silence and meaning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Authority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Individual, hierarchy or consensus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Pace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Relationship and decision timing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Face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How disagreement is expressed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Protocol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Agenda, status and formality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Verify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Ask, observe and adapt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med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4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cultural observations are facts, and which are hypotheses to test?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respectful process questions should clarify authority and consensus?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should the agenda balance relationship-building and commercial progress?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safeguards prevent ambiguity across language versions?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med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4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Plan a Singapore–Japan Distribution Partnership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plan contains at least five verification questions, a clear authority path and no unsupported statement that treats culture as destiny.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med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UNIT 01 · K1 · K2 · K3 · A1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a Total-Reward Job Offer Negotiation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Represent a growing technology SME hiring a regional operations manager where pay, flexibility, scope and start date have different value to each side.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employer mandate, candidate-interest hypothesis, compensation benchmark and three offer packages.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Benchmark extract · issue matrix · package planner · confidentiality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med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5 · REAL-WORLD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Use Case and Training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Real-world use case: job offers are negotiated across salary, bonus, equity, flexibility, role scope, development and start date. Personal information must be handled lawfully and respectfully.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https://sg.indeed.com/career-advice/career-development/negotiation-skills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Approved base salary band is SGD 9,500–10,500 monthly.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sign-on award up to SGD 8,000 and training budget up to SGD 6,000 are available.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candidate's alternative offer is not verified and should not be treated as fact.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med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5 · EDITABLE DECISION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Total-Reward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Base pay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Internal equity and market value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Sign-on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Transition and timing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Flexibility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Location and working pattern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Development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Skills and progression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Role scope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Authority and title review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Start date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Urgency and notice constraints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med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5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are the employer's target, reservation point and non-financial priorities?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candidate interests should be tested rather than assumed?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can three packages create choice while protecting internal equity?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candidate information is relevant, confidential or inappropriate to request?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med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5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a Total-Reward Job Offer Negotiation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All packages remain inside authority, address at least four issues, state objective criteria and avoid discriminatory or intrusive assumptions.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med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UNIT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Preparation for Negotiation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Renew a Critical Ingredient Supply Agreement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Define commercial outcomes, BATNA, reservation point, ZOPA hypotheses and evidence needs before a supplier renewal.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19659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Create a SaaS Renewal Team Mandate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Assign negotiation roles, decision rights and escalation rules for a cross-functional software renewal.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Prepare a Commercial Lease Renewal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Use market evidence and objective criteria to prepare a multi-issue lease negotiation.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35224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118104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Plan a Singapore–Japan Distribution Partnership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Adapt process, communication and team roles for a cross-cultural distribution negotiation without relying on stereotypes.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Design a Total-Reward Job Offer Negotiation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Prepare a multi-issue employment offer negotiation using priorities, alternatives, evidence and ethical information boundaries.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087368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427024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Evidence habit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Separate facts, hypotheses, limits and training assumptions.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39512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5367528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Negotiation habit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Link every movement to an interest, condition, authority and record.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med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End of Day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Return ready to open, listen, trade and close</a:t>
            </a:r>
          </a:p>
        </p:txBody>
      </p:sp>
    </p:spTree>
  </p:cSld>
  <p:clrMapOvr>
    <a:masterClrMapping/>
  </p:clrMapOvr>
  <p:transition spd="med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LEARNING UNIT 02 · K4 · K5 · K6 · A4 · A5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Negotiation Tactics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Opening · listening · anchoring · framing · conflict · concessions · closure ·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spd="med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TSC ICT-BIN-3105-1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Negotiation Tactics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Connect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rapport, listening and empathy to understand interests and preserve working relationships.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Influence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Anchor and frame with evidence, not unsupported pressure or deception.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Make conditional, reciprocal concessions across issues of unequal value.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Record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Document offers, rationale, agreement, owners and learning for implementation and review.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med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 tactic is useful only when it serves the strategy.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Short-term pressure that damages information, trust or implementation can destroy deal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med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Conduct the negotiation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Open and align process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Exchange information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 and test options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Bargain in packages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Close and confirm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Implement and review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med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Open the conversation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Rapport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a professional climate without pretending disagreement does not exist.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Purpose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State what decision or outcome the meeting should advance.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Process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Confirm agenda, roles, authority, timing and how decisions will be recorded.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Be firm on legitimate interests and respectful toward people.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med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Should you make the first offer?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credible first offer can anchor discussion when you have strong information.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It can frame the range and communicate ambition.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Support it with logic, criteria and package terms.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Wait when uncertainty is high and their opening may reveal valuable information.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let an extreme opening substitute for diagnosis.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Prepare a counter-anchor before hearing their number.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ransition spd="med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a defensible anchor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Ambitious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Leave room to move while remaining inside a supportable range.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Specific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considered number can signal analysis, but precision must be real.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Explained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Link the proposal to value, evidence, risk and comparable standards.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Packaged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Anchor multiple terms so the conversation is not trapped on price.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med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Avoid arbitrary round numbers—not round numbers themselves.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Precision helps only when it reflects genuine calculation; false precision weakens credibility.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med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Frame without manipulating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Gain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Show benefits, opportunities and avoided costs created by agreement.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Explain credible consequences of delay or non-agreement without threats.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Fairness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objective standards that both parties can examine.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Choice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Present options and trade-offs rather than a disguised ultimatum.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med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Active listening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Attend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Invite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Paraphrase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Label interests or emotion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Check accuracy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Build on what was learned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med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Questions that uncover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matters most about implementation timing?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Diagnostic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risk is the approval team trying to control?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Testing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If service credits increased, would contract length become flexible?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Clarifying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When you say reliable, which measure and threshold do you mean?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ransition spd="med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Empathy and agreement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Empathy means accurately understanding their perspective and emotion.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Naming concerns can reduce defensiveness and improve information quality.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You can acknowledge impact without accepting their proposed solution.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Agreement is a decision to accept a term or claim.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Premature agreement can hide implementation risk and unresolved interests.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Use empathy to diagnose; use criteria and authority to decide.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med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Emotional self-management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Notice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physical cues, trigger thoughts and rising urgency.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Pause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silence, a summary or a break before responding.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Reframe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Separate the person from the problem and return to interests.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Choose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Respond according to purpose, mandate and long-term consequences.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med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Difficult behaviour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Aggressive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Set boundaries, slow the pace and return to evidence and process.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Avoidant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Use specific questions, smaller decisions and clear follow-up dates.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Over-accommodating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Test authority and interests; do not exploit a fragile yes.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med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Respond to personal attacks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 not mirror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Lower intensity and avoid defending every provocation.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Name impact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State that the behaviour prevents productive discussion.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Exit safely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Pause or end the meeting when threats, harassment or bad faith continue.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med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Pressure tactics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Deadline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Verify whether it is real; compare the cost of delay with a rushed decision.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Competition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Ask what is comparable and avoid bidding against an unnamed alternative.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Ultimatum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Clarify whether the term is final, explore underlying constraints, use BATNA.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Nibble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Reopen the whole package or trade the late request for equivalent value.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ransition spd="med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Delay and authority tactics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Limited authority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Confirm decision rights early and make proposals conditional on mutual approval.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Missing person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Request the decision-maker or agree a written escalation path.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Repeated delay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milestones, expiry dates and the cost of waiting.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Strategic pause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legitimate break can improve judgement; document next steps.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med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Good-cop / bad-cop and moral pressure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Recognise the contrast effect: a merely poor offer can look attractive after an extreme demand.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Evaluate every proposal against objectives, criteria and BATNA.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Ask both representatives to confirm one accountable 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moral appeal may surface values but can also shame or bypass evidence.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Acknowledge the value, then examine reciprocal duties and facts.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accept a term outside authority to relieve social discomfort.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med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tactical response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Recognise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Pause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Clarify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Test legitimacy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Reframe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Respond or walk away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med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Concession discipline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Reciprocal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Exchange movement for movement, information or commitment.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Conditional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if–then language so the package remains connected.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Recorded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what moved, why, and whether earlier terms changed.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Diminishing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Reduce movement as the reservation point approaches.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med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Trade—do not simply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Logroll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Trade issues with different priority rankings.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Contingent term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Tie value to future outcomes when forecasts differ.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Add an issue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Introduce scope, timing, risk or support to expand the solution space.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spd="med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Multiple equivalent simultaneous offers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Package 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Higher price with shorter term and stronger exit rights.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Package B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Lower price with volume commitment and forecast visibility.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Package C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Mid-price with performance incentives and shared implementation.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Learning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Their reactions reveal priorities without asking them to disclose a limit.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med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Move from impasse to diagnosis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Name the deadlock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Separate issues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Restate interests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Change criterion or package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Take a structured break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Escalate or mediate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med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Impasse breakers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Process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Change sequence, participants, venue, data or decision rule.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Substance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 issues, phase commitments or use contingent agreements.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Relationship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a trusted senior sponsor or neutral facilitator.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Alternative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Pause, pursue BATNA and leave a credible route back.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med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Say no cleanly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State the boundary directly and briefly.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Explain the legitimate interest, constraint or authority behind it.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Offer an alternative path where one exists.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Avoid a vague maybe that creates false expectations.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Do not over-explain until the other side can litigate every detail.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respectful no can preserve trust better than a reluctant yes.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med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When to walk away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Below reservation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package is worse than the best credible alternative.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Unethical or unsafe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Deception, threats or illegal expectations make agreement unacceptable.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No authority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Required approval is unavailable and conditions cannot protect the commitment.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Implementation failure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promised result cannot be resourced, measured or delivered.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ransition spd="med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Close the agreement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Summarise the full package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Resolve ambiguity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Confirm authority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Document terms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Assign owners and dates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Set review and dispute path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med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Terms that make agreement executable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Scope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Deliverables, exclusions, quality and acceptance criteria.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Commercial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Price, payment, incentives, credits and change control.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Governance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Owners, reporting, escalation, review and dispute resolution.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Confidentiality, liability, termination, continuity and transition.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med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Consensus and consent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Perspective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Perspective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Consensus seeks an outcome all required parties can support or live with.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It is not unanimous enthusiasm or endless accommodation.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Record reservations and implementation conditions.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Formal consent requires the right person, authority and documentation.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handshake is not a substitute for agreed terms where writing is required.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Confirm what is binding, provisional or subject to approval.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med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Negotiation 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Date and participants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Objectives and authority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Offers and rationale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Concessions and conditions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Agreement and open items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Owners, dates and evidence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med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02 · K4 · K5 · K6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Debrief the negotiation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Outcome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Compare result with target, reservation point and BATNA.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Process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 preparation, information, tactics, decisions and turning points.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Relationship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Assess trust, fairness, communication and future cooperation.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Implementation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Track obligations, value realisation, disputes and lessons.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spd="med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WORKPLACE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Applied Activities — Negotiation Tactics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Activity 6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Anchor and Frame an Agency Retainer · K4 · K5 · A4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Activity 7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Recover a Logistics Service Relationship · K4 · K5 · A4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Activity 8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Break a Construction Variation Impasse · K5 · K6 · A4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Activity 9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Negotiate a Multi-Party Growth Investment · K4 · K5 · K6 · A4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Activity 10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Run and Debrief a Strategic Sustainability Partnership · K1 · K2 · K3 · K4 · K5 · K6 · A1 · A2 · A3 · A4 · A5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Evidence boundary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Realistic commercial cases; fictional training inputs are clearly labelled.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med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UNIT 02 · K4 · K5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Anchor and Frame an Agency Retainer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Represent an SME selecting a digital agency while balancing price, scope, performance evidence and launch speed.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opening package, counter-anchor script, question plan and concession ladder.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Agency proposals · value model · opening script · concession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med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6 · REAL-WORLD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Use Case and Training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Real-world use case: professional-service retainers combine scope, quality, staffing, intellectual property, metrics and commercial risk. The scenario is a realistic composite.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https://www.fuqua.duke.edu/programs/executive-education/business-negotiation-skills/negotiation-techniques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approved expected budget is SGD 24,000 monthly, with authority up to SGD 26,000 for defined senior staffing and performance reporting.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preferred agency's comparable work reduced acquisition cost by 12%, but attribution is not independently verified.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brand values launch readiness more than a small price reduction.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med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6 · EDITABLE DECISION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Agency Retainer Package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Fee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Price and payment cadence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Scope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Deliverables and exclusions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Team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Seniority and continuity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Metrics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Reporting and evidence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IP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Ownership and usage rights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Review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Pilot, renewal and exit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med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6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Should the brand make the first offer, and why?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evidence makes the anchor credible rather than arbitrary?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should value be framed without overstating uncertain performance?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concessions should be conditional and reciprocal?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spd="med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6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Anchor and Frame an Agency Retainer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opening is ambitious but evidence-backed, covers at least six terms and includes no unconditional concession.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med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UNIT 02 · K4 · K5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Recover a Logistics Service Relationship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Renegotiate a logistics service-level agreement after repeated delivery failures while preserving peak-season capacity.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listening map, difficult-conversation plan, issue diagnosis and recovery package.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Incident timeline · SLA data · empathy map · recovery-scorecard template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med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7 · REAL-WORLD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Use Case and Training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Real-world use case: service-recovery negotiations combine operational facts, attribution disputes, emotion, capacity constraints and future relationship value.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https://www.betterup.com/blog/negotiation-skills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SLA target is 95% on-time delivery; actual performance was 82% for six weeks.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Thirty percent of late orders were changed by LionCity after the agreed cut-off.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Service credits could total SGD 42,000, but capacity for the peak period is more valuable.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med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7 · EDITABLE DECISION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Service-Recovery Agreement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Shared facts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SLA, forecast and incident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Root causes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System—not blame—diagnosis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Reciprocal actions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Commitment from both parties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Metrics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Thresholds and evidence source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Owners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Accountable delivery roles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Escalation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Trigger, date and consequence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med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7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facts, interpretations and emotions must be separated?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open and diagnostic questions could reveal the failure system?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can the team acknowledge impact without accepting unsupported blame?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reciprocal recovery commitments create measurable improvement?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med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7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Recover a Logistics Service Relationship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record distinguishes fact from blame, captures both parties' interests and assigns measurable reciprocal actions with owners and dates.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med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UNIT 02 · K5 · K6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Break a Construction Variation Impasse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Facilitate a negotiation between a property owner and contractor over cost and schedule impact from an instructed design variation.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An impasse diagnosis, precedent comparison, option set and escalation recommendation.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Variation chronology · contract extract · cost schedule · impasse worksheet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med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8 · REAL-WORLD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Use Case and Training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Real-world use case: project variations frequently create disputes over entitlement, valuation, delay, evidence and authority. This simulation is educational and not legal advice.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https://www.pon.harvard.edu/freemium/negotiation-skills-negotiation-strategies-and-negotiation-techniques-to-help-you-become-a-better-negotiator/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contractor claims SGD 185,000; the owner's internal estimate is SGD 112,000.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Independent quantity rates support a range of SGD 125,000–145,000 before delay impact.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 12-day delay would cost the owner SGD 36,000 in temporary premises.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med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8 · EDITABLE DECISION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Impasse Diagnosis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Entitlement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Right to claim or resist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Valuation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Rates, quantity and evidence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Delay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Programme and mitigation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Process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Notice, authority and sequence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Relationship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Face, trust and future 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Fallback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Escalation, mediation or BATNA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med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8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Is the impasse about entitlement, valuation, delay, process or face?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precedents and objective criteria are genuinely comparable?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package could separate undisputed and disputed components?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When should the parties pause, escalate, mediate or pursue BATNA?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ransition spd="med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8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Break a Construction Variation Impasse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recommendation addresses each issue separately, uses at least two defensible criteria and preserves a clear non-agreement path.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med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UNIT 02 · K4 · K5 · K6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Negotiate a Multi-Party Growth Investment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Represent a founder balancing a lead investor, existing shareholders and key management during a growth funding round.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coalition map, issue package, precedent analysis and conditional term sheet.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Cap-table assumptions · term comparison · stakeholder map · package scorecard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spd="med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9 · REAL-WORLD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Use Case and Training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Real-world use case: investment negotiations involve valuation, governance, control, liquidity, incentives and long-term relationships among several parties. This is not investment or legal advice.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https://builtin.com/articles/negotiation-skills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lead investor proposes a SGD 32 million pre-money valuation.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An alternative investor may offer a higher valuation but cannot decide for eight weeks.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The board currently has three seats: two founder nominees and one independent.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spd="med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9 · EDITABLE DECISION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Multi-Party Coalition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Founder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Capital and autonomy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Lead investor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Return and governance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Shareholders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Dilution and protection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Management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Incentives and execution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Board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Fiduciary oversight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Approval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Who can support or block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ransition spd="med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9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parties can form supportive or blocking coalitions?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terms are economically linked even if negotiated separately?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precedent comparisons are misleading without context?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package best balances capital, control, incentives and relationship value?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ransition spd="med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9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Negotiate a Multi-Party Growth Investment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board brief covers every material stakeholder, compares three packages and explains why each cited precedent is or is not comparable.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spd="med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LEARNING UNIT 02 · K1 · K2 · K3 · K4 · K5 · K6 · A1 · A2 · A3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Run and Debrief a Strategic Sustainability Partnership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ACTIVITY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Negotiate a partnership between an urban property operator and a clean-energy solutions company to deploy solar and energy-management services across commercial sites.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 completed preparation brief, role-play, negotiation log, term sheet and after-action review.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Tools / evidence:  </a:t>
            </a:r>
            <a:r>
              <a:rPr sz="1300" b="0">
                <a:solidFill>
                  <a:srgbClr val="5B6372"/>
                </a:solidFill>
                <a:latin typeface="Arial"/>
              </a:rPr>
              <a:t>Confidential role briefs · issue matrix · term-sheet template · observer rubric · debrief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  <p:transition spd="med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ACTIVITY 10 · REAL-WORLD USE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Case Scenario — Use Case and Training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Training assumptions / limits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Real-world use case: strategic sustainability partnerships combine capital, performance, access, data, branding, risk and long-term governance. The organisations and figures are fictional training inputs.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Source: https://www.pon.harvard.edu/daily/negotiation-skills-daily/top-10-negotiation-skills/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Estimated project investment is SGD 3.2 million funded primarily by SunGrid.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Modelled annual savings are SGD 620,000 with a plus/minus 20% uncertainty band.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CivicSquare can offer five sites but only three have completed structural surveys.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  <p:transition spd="med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10 · EDITABLE DECISION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Executable Partnership Terms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Value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Economics and savings share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9536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9536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1056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Performance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Baseline and verification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05800" y="254203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5800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7320" y="1911096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Access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Sites, safety and timing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Data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Security, ownership and use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087368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69536" y="484632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9536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1056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Governance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Owners, review and escalation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087368"/>
            <a:ext cx="3361944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087368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05800" y="484632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5800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7320" y="4215384"/>
            <a:ext cx="2154936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Exit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Handover, liability and termination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  <p:transition spd="med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ACTIVITY 10 · DISCUSS AND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Activity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What outcomes, BATNAs, roles, evidence and cultural/process assumptions should each team prepare?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Which opening package creates a credible anchor across value, risk and implementation?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How should teams respond to pressure, impasse and late requests while preserving reciprocity?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Does the final record make commitments, owners, evidence and review conditions executable?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  <p:transition spd="med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ACTIVITY 10 · ACCEPTANCE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61B26"/>
                </a:solidFill>
                <a:latin typeface="Arial"/>
              </a:rPr>
              <a:t>Run and Debrief a Strategic Sustainability Partnership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The submission contains a complete negotiation log and executable term sheet or no-deal rationale, with explicit mapping to A1–A5 and all six knowledge areas.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  <p:transition spd="med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UNIT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Negotiation Tactics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Anchor and Frame an Agency Retainer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Use a supportable opening offer, framing and package design to negotiate a marketing agency retainer.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19659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Recover a Logistics Service Relationship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Use listening, empathy, questions and emotional regulation with a defensive service provider.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Break a Construction Variation Impasse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Diagnose and resolve an impasse using objective criteria, issue separation and escalation choices.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35224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35224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118104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063240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Negotiate a Multi-Party Growth Investment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Use coalition mapping, package trades and precedent analysis in a multi-party term-sheet negotiation.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and Debrief a Strategic Sustainability Partnership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Integrate preparation, tactics, closure and recording in a complete team negotiation simulation.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087368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087368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427024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215384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Evidence habit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Separate facts, hypotheses, limits and training assumptions.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39512"/>
            <a:ext cx="5180076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5367528"/>
            <a:ext cx="397306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Negotiation habit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Link every movement to an interest, condition, authority and record.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  <p:transition spd="med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Agreement Is the Start of Implementation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  <p:transition spd="med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4370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43708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Identify negotiation outcomes, the context of negotiation and relevant background information required to prepare for negotiation.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437083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437083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41879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Apply negotiation techniques during negotiation and record negotiations for post-negotiation evaluation.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  <p:transition spd="med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complete negotiation discipline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Prepare position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Diagnose interests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Create options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Trade conditionally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Close and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Evaluate and improve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  <p:transition spd="med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 Sources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Course page and approved outcomes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https://www.tertiarycourses.com.sg/wsq-unlocking-business-potential-with-strategic-negotiation-tactics.html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Asana — negotiation skills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https://asana.com/resources/negotiation-skills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Built In — negotiation skills and examples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https://builtin.com/articles/negotiation-skills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Harvard Program on Negotiation — top negotiation skills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https://www.pon.harvard.edu/daily/negotiation-skills-daily/top-10-negotiation-skills/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  <p:transition spd="med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 Sources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Esade — negotiation techniques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https://www.esade.edu/beyond/en/negotiation-techniques/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Duke Fuqua — negotiation techniques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https://www.fuqua.duke.edu/programs/executive-education/business-negotiation-skills/negotiation-techniques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Crowdspring — negotiation guide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https://www.crowdspring.com/blog/negotiation/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Indeed Singapore — negotiation skills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https://sg.indeed.com/career-advice/career-development/negotiation-skills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  <p:transition spd="med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Evidence Sources — Continued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Harvard PON — negotiation skills and techniques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https://www.pon.harvard.edu/freemium/negotiation-skills-negotiation-strategies-and-negotiation-techniques-to-help-you-become-a-better-negotiator/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Harvard PON — types of negotiation skills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https://www.pon.harvard.edu/daily/negotiation-skills-daily/types-of-negotiation-skills/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BetterUp — negotiation skills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https://www.betterup.com/blog/negotiation-skills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  <p:transition spd="med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10652760" cy="658368"/>
          </a:xfrm>
          <a:prstGeom prst="rect">
            <a:avLst/>
          </a:prstGeom>
          <a:solidFill>
            <a:srgbClr val="EE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938528"/>
            <a:ext cx="10195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880360"/>
            <a:ext cx="333756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Download the current slides and Learner Guide.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880360"/>
            <a:ext cx="333756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Open and complete the WA then Case Study.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2880360"/>
            <a:ext cx="3337560" cy="25146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2880360"/>
            <a:ext cx="3337560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3608" y="3154680"/>
            <a:ext cx="29260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Submission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3794760"/>
            <a:ext cx="29260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Upload completed answers and complete the sign-off process.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  <p:transition spd="med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WA-SAQ · 4:00–5:00pm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6 open-ended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K1–K6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Case Study · 5:00–6:00pm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2 integrated questions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A1–A5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Open book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Finish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Submit on LMS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Digital attendance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Sign summary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  <p:transition spd="med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/ SSG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then Case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  <p:transition spd="med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QR code shown by the trainer.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Submit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the assessment attendance event.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Confirm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Verify the submission confirmation.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Resolve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Tell the trainer immediately if it fails.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  <p:transition spd="med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STRATEGIC NEGOTIATION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Prepare with discipline, listen for interests, trade conditionally and record what implementation requires.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Unlocking Business Potential with Strategic Negotiation Tactics  ·  TGS-2023020567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